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dark_blue_tech_infographic_scene_with_a_clea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713232"/>
            <a:ext cx="6675120" cy="2487168"/>
          </a:xfrm>
          <a:prstGeom prst="rect">
            <a:avLst/>
          </a:prstGeom>
          <a:solidFill>
            <a:srgbClr val="06182A">
              <a:alpha val="95000"/>
            </a:srgbClr>
          </a:solidFill>
          <a:ln w="12700">
            <a:solidFill>
              <a:srgbClr val="31D6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59536" y="932688"/>
            <a:ext cx="612648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XML Workflow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Benchmark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896112" y="22128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D7FF"/>
                </a:solidFill>
              </a:rPr>
              <a:t>Elasticsearch · OpenSearch · Apache Solr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96112" y="2587752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6F5"/>
                </a:solidFill>
              </a:rPr>
              <a:t>Büyük XML workflow dokümanlarında arama performansı, indexleme stratejisi ve response payload maliyeti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9536" y="3401568"/>
            <a:ext cx="1371600" cy="310896"/>
          </a:xfrm>
          <a:prstGeom prst="rect">
            <a:avLst/>
          </a:prstGeom>
          <a:solidFill>
            <a:srgbClr val="31D6FF"/>
          </a:solidFill>
          <a:ln>
            <a:solidFill>
              <a:srgbClr val="31D6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826"/>
                </a:solidFill>
              </a:rPr>
              <a:t>Spring Boot PoC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395728" y="3401568"/>
            <a:ext cx="960120" cy="310896"/>
          </a:xfrm>
          <a:prstGeom prst="rect">
            <a:avLst/>
          </a:prstGeom>
          <a:solidFill>
            <a:srgbClr val="4DA3FF"/>
          </a:solidFill>
          <a:ln>
            <a:solidFill>
              <a:srgbClr val="4DA3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RAW_XML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520440" y="3401568"/>
            <a:ext cx="1965960" cy="310896"/>
          </a:xfrm>
          <a:prstGeom prst="rect">
            <a:avLst/>
          </a:prstGeom>
          <a:solidFill>
            <a:srgbClr val="F8C14A"/>
          </a:solidFill>
          <a:ln>
            <a:solidFill>
              <a:srgbClr val="F8C14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826"/>
                </a:solidFill>
              </a:rPr>
              <a:t>EXTRACTED_DOCUMENT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50992" y="3401568"/>
            <a:ext cx="1554480" cy="310896"/>
          </a:xfrm>
          <a:prstGeom prst="rect">
            <a:avLst/>
          </a:prstGeom>
          <a:solidFill>
            <a:srgbClr val="36D399"/>
          </a:solidFill>
          <a:ln>
            <a:solidFill>
              <a:srgbClr val="36D39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826"/>
                </a:solidFill>
              </a:rPr>
              <a:t>METADATA_ONLY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6384" y="6163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9CDE2"/>
                </a:solidFill>
              </a:rPr>
              <a:t>Argela Staj · Teknik Sunum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Bağlamı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Müşteri temsilcisi platformunda XML tabanlı workflow araması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73152" cy="32918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PROBLEM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1600200"/>
            <a:ext cx="51663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Platformdaki ekranlar ve iş akışları büyük XML dokümanları içinde tanımlanıyor. Kullanıcı açısından ihtiyaç basit: ilgili workflow’u serbest metinle hızlı bulmak.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2651760"/>
            <a:ext cx="46634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 dokümanları PostgreSQL üzerinde saklanıyor.</a:t>
            </a:r>
            <a:endParaRPr lang="en-US" sz="1420" dirty="0"/>
          </a:p>
          <a:p>
            <a:r>
              <a:rPr lang="en-US" sz="14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Free-text search mevcut sistemde Elasticsearch ile yapılıyor.</a:t>
            </a:r>
            <a:endParaRPr lang="en-US" sz="1420" dirty="0"/>
          </a:p>
          <a:p>
            <a:r>
              <a:rPr lang="en-US" sz="14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Doküman boyutu yaklaşık 2 MB seviyesine çıkabiliyor.</a:t>
            </a:r>
            <a:endParaRPr lang="en-US" sz="1420" dirty="0"/>
          </a:p>
          <a:p>
            <a:r>
              <a:rPr lang="en-US" sz="14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sonucu büyük XML yerine mümkünse küçük metadata alanlarını dönmeli.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6016752" y="2121408"/>
            <a:ext cx="1325880" cy="841248"/>
          </a:xfrm>
          <a:prstGeom prst="roundRect">
            <a:avLst>
              <a:gd name="adj" fmla="val 7609"/>
            </a:avLst>
          </a:prstGeom>
          <a:solidFill>
            <a:srgbClr val="F8FB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9904" y="2212848"/>
            <a:ext cx="117957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 kayıtları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7662672" y="2121408"/>
            <a:ext cx="1417320" cy="841248"/>
          </a:xfrm>
          <a:prstGeom prst="roundRect">
            <a:avLst>
              <a:gd name="adj" fmla="val 7609"/>
            </a:avLst>
          </a:prstGeom>
          <a:solidFill>
            <a:srgbClr val="F8F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35824" y="2212848"/>
            <a:ext cx="127101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Engine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+ query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326880" y="2121408"/>
            <a:ext cx="1325880" cy="841248"/>
          </a:xfrm>
          <a:prstGeom prst="roundRect">
            <a:avLst>
              <a:gd name="adj" fmla="val 7609"/>
            </a:avLst>
          </a:prstGeom>
          <a:solidFill>
            <a:srgbClr val="F8FB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00032" y="2212848"/>
            <a:ext cx="117957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Arama API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sonuç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881360" y="2121408"/>
            <a:ext cx="960120" cy="841248"/>
          </a:xfrm>
          <a:prstGeom prst="roundRect">
            <a:avLst>
              <a:gd name="adj" fmla="val 7609"/>
            </a:avLst>
          </a:prstGeom>
          <a:solidFill>
            <a:srgbClr val="F8FB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54512" y="2212848"/>
            <a:ext cx="81381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Kullanıcı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seçimi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7342632" y="2542032"/>
            <a:ext cx="292608" cy="0"/>
          </a:xfrm>
          <a:prstGeom prst="line">
            <a:avLst/>
          </a:prstGeom>
          <a:noFill/>
          <a:ln w="1651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70848" y="2542032"/>
            <a:ext cx="237744" cy="0"/>
          </a:xfrm>
          <a:prstGeom prst="line">
            <a:avLst/>
          </a:prstGeom>
          <a:noFill/>
          <a:ln w="1651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652760" y="2542032"/>
            <a:ext cx="210312" cy="0"/>
          </a:xfrm>
          <a:prstGeom prst="line">
            <a:avLst/>
          </a:prstGeom>
          <a:noFill/>
          <a:ln w="1651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16752" y="3886200"/>
            <a:ext cx="580644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 w="10160">
            <a:solidFill>
              <a:srgbClr val="FDBA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4032504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riski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81344" y="4389120"/>
            <a:ext cx="54772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MB XML dokümanlarda arama motoru maliyeti ile response payload maliyeti karışırsa sonuçlar yanlış yorumlanır. Bu yüzden search-only ve full XML response ayrı ölçülmelidir.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Hedef ve Araştırma Soruları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PoC neyi ölçüyor, neyi karar noktasına taşıyor?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03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6FEB"/>
                </a:solidFill>
              </a:rPr>
              <a:t>3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Karşılaştırılan engine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77240" y="2039112"/>
            <a:ext cx="123444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234440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7706"/>
                </a:solidFill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377440" y="16916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Arama modu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468880" y="2039112"/>
            <a:ext cx="123444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234440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069080" y="16916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Response modu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160520" y="2039112"/>
            <a:ext cx="123444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234440"/>
            <a:ext cx="18288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</a:rPr>
              <a:t>100×2MB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760720" y="1691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Final büyük dataset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852160" y="2039112"/>
            <a:ext cx="164592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487168"/>
            <a:ext cx="315468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63347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hedef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0392" y="2990088"/>
            <a:ext cx="28254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Mevcut Elasticsearch yaklaşımını baseline alıp OpenSearch ve Solr alternatiflerini aynı veri ve query setiyle kontrollü biçimde ölçmek.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251960" y="2487168"/>
            <a:ext cx="7086600" cy="3154680"/>
          </a:xfrm>
          <a:prstGeom prst="roundRect">
            <a:avLst>
              <a:gd name="adj" fmla="val 2029"/>
            </a:avLst>
          </a:prstGeom>
          <a:solidFill>
            <a:srgbClr val="F8FAFC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Cevaplanan sorular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26280" y="3154680"/>
            <a:ext cx="635508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RAW_XML mevcut sistem için yeterince kararlı ve hızlı mı?</a:t>
            </a:r>
            <a:endParaRPr lang="en-US" sz="1450" dirty="0"/>
          </a:p>
          <a:p>
            <a:r>
              <a:rPr lang="en-US" sz="14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EXTRACTED_DOCUMENT parse edilmiş veriyle performans avantajı sağlıyor mu?</a:t>
            </a:r>
            <a:endParaRPr lang="en-US" sz="1450" dirty="0"/>
          </a:p>
          <a:p>
            <a:r>
              <a:rPr lang="en-US" sz="14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Solr veya OpenSearch Elasticsearch’e alternatif olabilir mi?</a:t>
            </a:r>
            <a:endParaRPr lang="en-US" sz="1450" dirty="0"/>
          </a:p>
          <a:p>
            <a:r>
              <a:rPr lang="en-US" sz="14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XML response latency’yi ne kadar artırıyor?</a:t>
            </a:r>
            <a:endParaRPr lang="en-US" sz="1450" dirty="0"/>
          </a:p>
          <a:p>
            <a:r>
              <a:rPr lang="en-US" sz="14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sonuçları hangi sınırlılıklar altında yorumlanmalı?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Karşılaştırılan Teknolojiler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problem için üç Lucene tabanlı yaklaşım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04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2788920" cy="429768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Elasticsearch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6968" y="2029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Mevcut sistem / 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" y="2743200"/>
            <a:ext cx="22860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+ Query DSL</a:t>
            </a:r>
            <a:endParaRPr lang="en-US" sz="1300" dirty="0"/>
          </a:p>
          <a:p>
            <a:r>
              <a:rPr lang="en-US" sz="13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JVM tabanlı dağıtık search</a:t>
            </a:r>
            <a:endParaRPr lang="en-US" sz="1300" dirty="0"/>
          </a:p>
          <a:p>
            <a:r>
              <a:rPr lang="en-US" sz="13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Mevcut pipeline’a referans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1325880"/>
            <a:ext cx="2788920" cy="429768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OpenSearch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61688" y="2029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ES’e yakın açık kaynak alternatif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16552" y="2743200"/>
            <a:ext cx="22860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Elasticsearch 7.10 fork temelli</a:t>
            </a:r>
            <a:endParaRPr lang="en-US" sz="1300" dirty="0"/>
          </a:p>
          <a:p>
            <a:r>
              <a:rPr lang="en-US" sz="13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Benzer mapping/query/analyzer modeli</a:t>
            </a:r>
            <a:endParaRPr lang="en-US" sz="1300" dirty="0"/>
          </a:p>
          <a:p>
            <a:r>
              <a:rPr lang="en-US" sz="13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maliyeti görece düşük olabilir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1325880"/>
            <a:ext cx="2788920" cy="429768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Solr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36408" y="2029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Olgun enterprise search motoru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91272" y="2743200"/>
            <a:ext cx="22860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Lucene tabanlı olgun teknoloji</a:t>
            </a:r>
            <a:endParaRPr lang="en-US" sz="1300" dirty="0"/>
          </a:p>
          <a:p>
            <a:r>
              <a:rPr lang="en-US" sz="13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ve field yönetimi güçlü</a:t>
            </a:r>
            <a:endParaRPr lang="en-US" sz="1300" dirty="0"/>
          </a:p>
          <a:p>
            <a:r>
              <a:rPr lang="en-US" sz="13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search ve relevancy tuning tarafında güçlü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Teknolojik Farklar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Benzer Lucene temeli, farklı kullanım ve operasyon modeli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05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1828800" cy="472440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Kriter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514600" y="1417320"/>
            <a:ext cx="2788920" cy="472440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Elasticsearch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5303520" y="1417320"/>
            <a:ext cx="2788920" cy="472440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OpenSearch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092440" y="1417320"/>
            <a:ext cx="3429000" cy="472440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Solr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85800" y="1889760"/>
            <a:ext cx="182880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Temel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514600" y="1889760"/>
            <a:ext cx="278892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Lucene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303520" y="1889760"/>
            <a:ext cx="278892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Lucene / ES fork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8092440" y="1889760"/>
            <a:ext cx="342900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Lucene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85800" y="2362200"/>
            <a:ext cx="1828800" cy="47244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Query modeli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2514600" y="2362200"/>
            <a:ext cx="2788920" cy="47244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Query DSL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303520" y="2362200"/>
            <a:ext cx="2788920" cy="47244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Query DSL’e benzer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092440" y="2362200"/>
            <a:ext cx="3429000" cy="47244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edismax / qf / schema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85800" y="2834640"/>
            <a:ext cx="182880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Şema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2514600" y="2834640"/>
            <a:ext cx="278892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Mapping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5303520" y="2834640"/>
            <a:ext cx="278892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Mapping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8092440" y="2834640"/>
            <a:ext cx="342900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Schema field yaklaşımı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85800" y="3307080"/>
            <a:ext cx="1828800" cy="47244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Mevcut sisteme yakınlık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2514600" y="3307080"/>
            <a:ext cx="2788920" cy="47244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En yüksek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5303520" y="3307080"/>
            <a:ext cx="2788920" cy="47244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Yüksek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8092440" y="3307080"/>
            <a:ext cx="3429000" cy="47244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Orta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" y="3779520"/>
            <a:ext cx="182880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PoC gözlemi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2514600" y="3779520"/>
            <a:ext cx="278892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Kararlı baseline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5303520" y="3779520"/>
            <a:ext cx="278892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Küçük/orta ölçekte çalıştı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8092440" y="3779520"/>
            <a:ext cx="3429000" cy="472440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Metadata-only testlerde çok hızlı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822960" y="4663440"/>
            <a:ext cx="10561320" cy="1143000"/>
          </a:xfrm>
          <a:prstGeom prst="roundRect">
            <a:avLst>
              <a:gd name="adj" fmla="val 5600"/>
            </a:avLst>
          </a:prstGeom>
          <a:solidFill>
            <a:srgbClr val="F8FBFF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4809744"/>
            <a:ext cx="10232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bu üçlü?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87552" y="5166360"/>
            <a:ext cx="1023213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Mevcut sistem Elasticsearch kullandığı için baseline net. OpenSearch, geçiş/adaptasyon maliyeti açısından Elasticsearch’e yakın. Solr ise Lucene tabanlı, uzun süredir kullanılan kurumsal search alternatifi.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 Mimarisi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 tabanlı tekrar edilebilir benchmark altyapısı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06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73152" cy="32918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MİMARİ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1325880" cy="749808"/>
          </a:xfrm>
          <a:prstGeom prst="roundRect">
            <a:avLst>
              <a:gd name="adj" fmla="val 8537"/>
            </a:avLst>
          </a:prstGeom>
          <a:solidFill>
            <a:srgbClr val="F8FB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103120"/>
            <a:ext cx="11795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2514600" y="2011680"/>
            <a:ext cx="1508760" cy="749808"/>
          </a:xfrm>
          <a:prstGeom prst="roundRect">
            <a:avLst>
              <a:gd name="adj" fmla="val 8537"/>
            </a:avLst>
          </a:prstGeom>
          <a:solidFill>
            <a:srgbClr val="F8FB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103120"/>
            <a:ext cx="136245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WorkflowDocument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4572000" y="1417320"/>
            <a:ext cx="1417320" cy="713232"/>
          </a:xfrm>
          <a:prstGeom prst="roundRect">
            <a:avLst>
              <a:gd name="adj" fmla="val 8974"/>
            </a:avLst>
          </a:prstGeom>
          <a:solidFill>
            <a:srgbClr val="F8FB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508760"/>
            <a:ext cx="127101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RAW_XML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xmlContent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4572000" y="2606040"/>
            <a:ext cx="1417320" cy="713232"/>
          </a:xfrm>
          <a:prstGeom prst="roundRect">
            <a:avLst>
              <a:gd name="adj" fmla="val 8974"/>
            </a:avLst>
          </a:prstGeom>
          <a:solidFill>
            <a:srgbClr val="F8FB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697480"/>
            <a:ext cx="127101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SearchDocument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675120" y="1234440"/>
            <a:ext cx="1417320" cy="621792"/>
          </a:xfrm>
          <a:prstGeom prst="roundRect">
            <a:avLst>
              <a:gd name="adj" fmla="val 10294"/>
            </a:avLst>
          </a:prstGeom>
          <a:solidFill>
            <a:srgbClr val="F8FB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1325880"/>
            <a:ext cx="12710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Elasticsearch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675120" y="2103120"/>
            <a:ext cx="1417320" cy="621792"/>
          </a:xfrm>
          <a:prstGeom prst="roundRect">
            <a:avLst>
              <a:gd name="adj" fmla="val 10294"/>
            </a:avLst>
          </a:prstGeom>
          <a:solidFill>
            <a:srgbClr val="F8F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2194560"/>
            <a:ext cx="12710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OpenSearch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675120" y="2971800"/>
            <a:ext cx="1417320" cy="621792"/>
          </a:xfrm>
          <a:prstGeom prst="roundRect">
            <a:avLst>
              <a:gd name="adj" fmla="val 10294"/>
            </a:avLst>
          </a:prstGeom>
          <a:solidFill>
            <a:srgbClr val="F8FB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3063240"/>
            <a:ext cx="12710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Solr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9189720" y="2011680"/>
            <a:ext cx="1371600" cy="749808"/>
          </a:xfrm>
          <a:prstGeom prst="roundRect">
            <a:avLst>
              <a:gd name="adj" fmla="val 8537"/>
            </a:avLst>
          </a:prstGeom>
          <a:solidFill>
            <a:srgbClr val="F8FB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62872" y="2103120"/>
            <a:ext cx="122529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10927080" y="2011680"/>
            <a:ext cx="914400" cy="749808"/>
          </a:xfrm>
          <a:prstGeom prst="roundRect">
            <a:avLst>
              <a:gd name="adj" fmla="val 8537"/>
            </a:avLst>
          </a:prstGeom>
          <a:solidFill>
            <a:srgbClr val="F8FB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00232" y="2103120"/>
            <a:ext cx="76809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/ CSV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2103120" y="2386584"/>
            <a:ext cx="411480" cy="0"/>
          </a:xfrm>
          <a:prstGeom prst="line">
            <a:avLst/>
          </a:prstGeom>
          <a:noFill/>
          <a:ln w="1651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023360" y="2386584"/>
            <a:ext cx="530352" cy="-603504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023360" y="2386584"/>
            <a:ext cx="530352" cy="576072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89320" y="1773936"/>
            <a:ext cx="667512" cy="-228600"/>
          </a:xfrm>
          <a:prstGeom prst="line">
            <a:avLst/>
          </a:prstGeom>
          <a:noFill/>
          <a:ln w="1651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89320" y="2724912"/>
            <a:ext cx="667512" cy="-310896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989320" y="2944368"/>
            <a:ext cx="667512" cy="301752"/>
          </a:xfrm>
          <a:prstGeom prst="line">
            <a:avLst/>
          </a:prstGeom>
          <a:noFill/>
          <a:ln w="1651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92440" y="1545336"/>
            <a:ext cx="1069848" cy="722376"/>
          </a:xfrm>
          <a:prstGeom prst="line">
            <a:avLst/>
          </a:prstGeom>
          <a:noFill/>
          <a:ln w="1651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92440" y="2414016"/>
            <a:ext cx="1069848" cy="-27432"/>
          </a:xfrm>
          <a:prstGeom prst="line">
            <a:avLst/>
          </a:prstGeom>
          <a:noFill/>
          <a:ln w="1651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92440" y="3246120"/>
            <a:ext cx="1069848" cy="-722376"/>
          </a:xfrm>
          <a:prstGeom prst="line">
            <a:avLst/>
          </a:prstGeom>
          <a:noFill/>
          <a:ln w="1651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561320" y="2386584"/>
            <a:ext cx="347472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68680" y="4315968"/>
            <a:ext cx="10698480" cy="100584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3272" y="4462272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prensip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33272" y="4818888"/>
            <a:ext cx="103692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Veri, query seti, iteration sayısı, search mode ve response mode aynı API üzerinden kontrol edilir. Böylece engine’ler aynı koşullarda ölçülür.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 Üretimi ve XML Boyutu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screenCount arttıkça gerçek XML içeriği büyür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07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280160" cy="484632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screenCount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417320"/>
            <a:ext cx="1600200" cy="484632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Yaklaşık XML boyutu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1417320"/>
            <a:ext cx="1920240" cy="484632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Kullanım amacı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1280160" cy="48463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20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11680" y="1901952"/>
            <a:ext cx="1600200" cy="48463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34 KB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1880" y="1901952"/>
            <a:ext cx="1920240" cy="48463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Küçük smoke test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2386584"/>
            <a:ext cx="1280160" cy="48463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300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2386584"/>
            <a:ext cx="1600200" cy="48463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515 KB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11880" y="2386584"/>
            <a:ext cx="1920240" cy="48463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Orta test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2871216"/>
            <a:ext cx="1280160" cy="48463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600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11680" y="2871216"/>
            <a:ext cx="1600200" cy="48463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1032 KB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11880" y="2871216"/>
            <a:ext cx="1920240" cy="48463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1 MB doğrulama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3355848"/>
            <a:ext cx="1280160" cy="48463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1200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11680" y="3355848"/>
            <a:ext cx="1600200" cy="48463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2068 KB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11880" y="3355848"/>
            <a:ext cx="1920240" cy="48463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43A"/>
                </a:solidFill>
              </a:rPr>
              <a:t>Final büyük test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1417320"/>
            <a:ext cx="5257800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153619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 boyutu büyüme eğrisi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81928" y="19476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screen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7909560" y="1984248"/>
            <a:ext cx="45101" cy="137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71632" y="193852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34.00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281928" y="244602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screen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909560" y="2482596"/>
            <a:ext cx="683147" cy="1371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71632" y="2436876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515.00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281928" y="294436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600 screen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7909560" y="2980944"/>
            <a:ext cx="1368947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71632" y="293522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1032.00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6281928" y="344271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1200 screen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7909560" y="3479292"/>
            <a:ext cx="274320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71632" y="343357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2068.00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31520" y="434340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F8FBFF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448970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sentetik veri?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96112" y="4846320"/>
            <a:ext cx="102778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 workflow yapısına benzeyen ama kontrollü boyut üretilebilen bir veri seti gerekliydi. Generator; screen, field, action, validation ve transition bloklarını artırarak XML içeriğini gerçek anlamda büyütür.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Arama Modları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RAW_XML ve EXTRACTED_DOCUMENT neyi temsil ediyor?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08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074920" cy="2148840"/>
          </a:xfrm>
          <a:prstGeom prst="roundRect">
            <a:avLst>
              <a:gd name="adj" fmla="val 2979"/>
            </a:avLst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56362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RAW_XML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1920240"/>
            <a:ext cx="4745736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 parse edilmeden search engine’e aktarılır. Arama tek büyük text field üzerinde yapılır: xmlContent / xmlContent_txt. Mevcut sisteme en yakın senaryodur.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074920" cy="2148840"/>
          </a:xfrm>
          <a:prstGeom prst="roundRect">
            <a:avLst>
              <a:gd name="adj" fmla="val 2979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EXTRACTED_DOCUMENT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1920240"/>
            <a:ext cx="4745736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 parse edilir; workflowName, screenTitles, screenDescriptions, actionTexts, technicalTokens ve searchText alanları çıkarılır. Arama çok alanlı yapılır.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05840" y="416052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F8FB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251960"/>
            <a:ext cx="122529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xmlContent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2377440" y="4462272"/>
            <a:ext cx="54864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44368" y="416052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F8FB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4251960"/>
            <a:ext cx="122529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query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4315968" y="4462272"/>
            <a:ext cx="576072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01184" y="4160520"/>
            <a:ext cx="1325880" cy="594360"/>
          </a:xfrm>
          <a:prstGeom prst="roundRect">
            <a:avLst>
              <a:gd name="adj" fmla="val 10769"/>
            </a:avLst>
          </a:prstGeom>
          <a:solidFill>
            <a:srgbClr val="F8FB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4251960"/>
            <a:ext cx="117957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field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400800" y="4160520"/>
            <a:ext cx="1005840" cy="594360"/>
          </a:xfrm>
          <a:prstGeom prst="roundRect">
            <a:avLst>
              <a:gd name="adj" fmla="val 10769"/>
            </a:avLst>
          </a:prstGeom>
          <a:solidFill>
            <a:srgbClr val="F8FB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4251960"/>
            <a:ext cx="85953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7406640" y="4462272"/>
            <a:ext cx="548640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73568" y="4160520"/>
            <a:ext cx="1325880" cy="594360"/>
          </a:xfrm>
          <a:prstGeom prst="roundRect">
            <a:avLst>
              <a:gd name="adj" fmla="val 10769"/>
            </a:avLst>
          </a:prstGeom>
          <a:solidFill>
            <a:srgbClr val="F8FB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4251960"/>
            <a:ext cx="117957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field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9299448" y="4462272"/>
            <a:ext cx="530352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38944" y="4160520"/>
            <a:ext cx="1325880" cy="594360"/>
          </a:xfrm>
          <a:prstGeom prst="roundRect">
            <a:avLst>
              <a:gd name="adj" fmla="val 10769"/>
            </a:avLst>
          </a:prstGeom>
          <a:solidFill>
            <a:srgbClr val="F8FB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12096" y="4251960"/>
            <a:ext cx="117957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boost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</a:t>
            </a:r>
            <a:endParaRPr lang="en-US" sz="10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 Modları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maliyeti ile payload maliyetini ayırmak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4983480" cy="2011680"/>
          </a:xfrm>
          <a:prstGeom prst="roundRect">
            <a:avLst>
              <a:gd name="adj" fmla="val 3182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56362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METADATA_ONLY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1832" y="1920240"/>
            <a:ext cx="465429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sonucunda id, workflowCode, workflowName, domain, status, score ve xmlSizeKb gibi küçük metadata alanları döner. Search latency ölçümü için ana moddur.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4983480" cy="2011680"/>
          </a:xfrm>
          <a:prstGeom prst="roundRect">
            <a:avLst>
              <a:gd name="adj" fmla="val 3182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56362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FULL_XML_RESPONSE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1920240"/>
            <a:ext cx="465429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alanlarına ek olarak XML içeriği de döner. limit=5 ve 2 MB XML ile yaklaşık 10 MB response oluşur. Payload maliyeti için ayrı test edilmiştir.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234440" y="4069080"/>
            <a:ext cx="18288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6FEB"/>
                </a:solidFill>
              </a:rPr>
              <a:t>0 KB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34440" y="4526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Metadata-only response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325880" y="4873752"/>
            <a:ext cx="164592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4069080"/>
            <a:ext cx="18288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C2626"/>
                </a:solidFill>
              </a:rPr>
              <a:t>~10 MB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3794760" y="4526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Full XML response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886200" y="4873752"/>
            <a:ext cx="164592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77640"/>
            <a:ext cx="4526280" cy="1051560"/>
          </a:xfrm>
          <a:prstGeom prst="roundRect">
            <a:avLst>
              <a:gd name="adj" fmla="val 608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4123944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Mimari çıkarım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65392" y="4480560"/>
            <a:ext cx="419709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endpoint metadata-only çalışmalı; kullanıcı bir workflow seçtiğinde büyük XML içeriği ayrı detail endpoint üzerinden alınmalıdır.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Altyapısı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Tekrarlanabilir ölçüm için request modeli ve metrikler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298448"/>
            <a:ext cx="1828800" cy="462915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Parametre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1298448"/>
            <a:ext cx="3474720" cy="462915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Açıklama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761363"/>
            <a:ext cx="1828800" cy="462915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mode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0" y="1761363"/>
            <a:ext cx="3474720" cy="462915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RAW_XML veya EXTRACTED_DOCUMENT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224278"/>
            <a:ext cx="1828800" cy="462915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responseMode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2224278"/>
            <a:ext cx="3474720" cy="462915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METADATA_ONLY veya FULL_XML_RESPONSE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2687193"/>
            <a:ext cx="1828800" cy="462915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engines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0" y="2687193"/>
            <a:ext cx="3474720" cy="462915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Elasticsearch, OpenSearch, Solr seçimi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3150108"/>
            <a:ext cx="1828800" cy="462915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queries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0" y="3150108"/>
            <a:ext cx="3474720" cy="462915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Sorgu seti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613023"/>
            <a:ext cx="1828800" cy="462915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limit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3613023"/>
            <a:ext cx="3474720" cy="462915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Dönen sonuç sayısı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4075938"/>
            <a:ext cx="1828800" cy="462915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warmupIterations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4075938"/>
            <a:ext cx="3474720" cy="462915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Ölçüme dahil edilmeyen ısınma sorguları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4538853"/>
            <a:ext cx="1828800" cy="462915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measurementIterations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0" y="4538853"/>
            <a:ext cx="3474720" cy="462915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3A"/>
                </a:solidFill>
              </a:rPr>
              <a:t>Latency ölçümleri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1298448"/>
            <a:ext cx="4892040" cy="3703320"/>
          </a:xfrm>
          <a:prstGeom prst="roundRect">
            <a:avLst>
              <a:gd name="adj" fmla="val 1728"/>
            </a:avLst>
          </a:prstGeom>
          <a:solidFill>
            <a:srgbClr val="F8FAFC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508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Ölçülen metrikler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93408" y="1920240"/>
            <a:ext cx="425196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avgMs, minMs, maxMs</a:t>
            </a:r>
            <a:endParaRPr lang="en-US" sz="1350" dirty="0"/>
          </a:p>
          <a:p>
            <a:r>
              <a:rPr lang="en-US" sz="13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p50Ms, p95Ms, p99Ms</a:t>
            </a:r>
            <a:endParaRPr lang="en-US" sz="1350" dirty="0"/>
          </a:p>
          <a:p>
            <a:r>
              <a:rPr lang="en-US" sz="13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successCount / errorCount</a:t>
            </a:r>
            <a:endParaRPr lang="en-US" sz="1350" dirty="0"/>
          </a:p>
          <a:p>
            <a:r>
              <a:rPr lang="en-US" sz="13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lastHitCount</a:t>
            </a:r>
            <a:endParaRPr lang="en-US" sz="1350" dirty="0"/>
          </a:p>
          <a:p>
            <a:r>
              <a:rPr lang="en-US" sz="13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lastResponseSizeKb</a:t>
            </a:r>
            <a:endParaRPr lang="en-US" sz="1350" dirty="0"/>
          </a:p>
          <a:p>
            <a:r>
              <a:rPr lang="en-US" sz="13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samplesMs ham ölçüm listesi</a:t>
            </a:r>
            <a:endParaRPr lang="en-US" sz="1350" dirty="0"/>
          </a:p>
          <a:p>
            <a:r>
              <a:rPr lang="en-US" sz="135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+ CSV export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29400" y="459028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Not: süreler double precision tutulur; Solr gibi düşük latency üreten engine’lerde 1 ms altı değerler daha doğru izlenir.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Matrisi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testte tek değişkeni mümkün olduğunca izole ettik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11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463040" cy="438912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Aşama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0" y="1417320"/>
            <a:ext cx="1920240" cy="438912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0" y="1417320"/>
            <a:ext cx="2194560" cy="438912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Engine’ler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212080" cy="438912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Amaç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1856232"/>
            <a:ext cx="146304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Küçük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194560" y="1856232"/>
            <a:ext cx="192024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10 × 34 KB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114800" y="1856232"/>
            <a:ext cx="21945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ES + OS + Solr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309360" y="1856232"/>
            <a:ext cx="52120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Smoke test ve entegrasyon doğrulama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31520" y="2295144"/>
            <a:ext cx="146304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Orta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194560" y="2295144"/>
            <a:ext cx="192024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50 × 515 KB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114800" y="2295144"/>
            <a:ext cx="21945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ES + OS + Solr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309360" y="2295144"/>
            <a:ext cx="52120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Orta ölçekte RAW / extracted farkı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31520" y="2734056"/>
            <a:ext cx="146304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Büyük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194560" y="2734056"/>
            <a:ext cx="192024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100 × 2068 KB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114800" y="2734056"/>
            <a:ext cx="21945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ES + Solr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309360" y="2734056"/>
            <a:ext cx="52120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Final büyük ölçek karşılaştırması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31520" y="3172968"/>
            <a:ext cx="146304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Payload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2194560" y="3172968"/>
            <a:ext cx="192024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100 × 2068 KB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114800" y="3172968"/>
            <a:ext cx="21945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ES + Solr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309360" y="3172968"/>
            <a:ext cx="52120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43A"/>
                </a:solidFill>
              </a:rPr>
              <a:t>Metadata-only vs full XML response maliyeti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22960" y="4114800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261104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OpenSearch konumlandırması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87552" y="4617720"/>
            <a:ext cx="479145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OpenSearch küçük ve orta ölçekte gözlemlendi. Büyük final testlerde lokal kaynak koşulları ve bellek baskısı etkisini azaltmak için Elasticsearch + Solr izolasyonu tercih edildi.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55080" y="4114800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426110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test kuralı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9672" y="4617720"/>
            <a:ext cx="46542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Büyük testte reindex ve benchmark aynı search mode ile çalıştırıldı; response payload etkisi ayrıca FULL_XML_RESPONSE ile ayrıldı.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Küçük ve Orta Test Bulguları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 engine’in temel davranışı doğrulandı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1188720" cy="463731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353312"/>
            <a:ext cx="1828800" cy="463731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03320" y="1353312"/>
            <a:ext cx="2057400" cy="463731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Avg/P95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353312"/>
            <a:ext cx="2240280" cy="463731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Extracted Avg/P95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01000" y="1353312"/>
            <a:ext cx="3611880" cy="463731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Yorum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1817043"/>
            <a:ext cx="118872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Küçük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1874520" y="1817043"/>
            <a:ext cx="182880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Elasticsearch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3703320" y="1817043"/>
            <a:ext cx="205740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3.87 / 7.76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5760720" y="1817043"/>
            <a:ext cx="224028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3.62 / 5.32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8001000" y="1817043"/>
            <a:ext cx="361188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Fark düşük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85800" y="2280775"/>
            <a:ext cx="118872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Küçük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1874520" y="2280775"/>
            <a:ext cx="182880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OpenSearch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3703320" y="2280775"/>
            <a:ext cx="205740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5.94 / 9.25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5760720" y="2280775"/>
            <a:ext cx="224028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5.45 / 7.95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8001000" y="2280775"/>
            <a:ext cx="361188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Fark düşük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685800" y="2744506"/>
            <a:ext cx="118872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Küçük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1874520" y="2744506"/>
            <a:ext cx="182880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Solr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3703320" y="2744506"/>
            <a:ext cx="205740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1.50 / 3.04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5760720" y="2744506"/>
            <a:ext cx="224028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1.43 / 2.08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8001000" y="2744506"/>
            <a:ext cx="361188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Solr hızlı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" y="3208238"/>
            <a:ext cx="118872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Orta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1874520" y="3208238"/>
            <a:ext cx="182880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Elasticsearch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3703320" y="3208238"/>
            <a:ext cx="205740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7.76 / 15.34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5760720" y="3208238"/>
            <a:ext cx="224028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13.85 / 28.56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8001000" y="3208238"/>
            <a:ext cx="361188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Extracted yavaş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685800" y="3671969"/>
            <a:ext cx="118872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Orta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1874520" y="3671969"/>
            <a:ext cx="182880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OpenSearch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3703320" y="3671969"/>
            <a:ext cx="205740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10.79 / 14.34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5760720" y="3671969"/>
            <a:ext cx="224028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13.96 / 17.59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8001000" y="3671969"/>
            <a:ext cx="3611880" cy="463731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Extracted yavaş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685800" y="4135701"/>
            <a:ext cx="118872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Orta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874520" y="4135701"/>
            <a:ext cx="182880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Solr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3703320" y="4135701"/>
            <a:ext cx="205740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0.95 / 2.23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5760720" y="4135701"/>
            <a:ext cx="224028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2.64 / 1.22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8001000" y="4135701"/>
            <a:ext cx="361188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2243A"/>
                </a:solidFill>
              </a:rPr>
              <a:t>Outlier etkisi var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914400" y="4983480"/>
            <a:ext cx="10287000" cy="868680"/>
          </a:xfrm>
          <a:prstGeom prst="roundRect">
            <a:avLst>
              <a:gd name="adj" fmla="val 7368"/>
            </a:avLst>
          </a:prstGeom>
          <a:solidFill>
            <a:srgbClr val="F8FBFF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8992" y="5129784"/>
            <a:ext cx="9957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Yorum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78992" y="5486400"/>
            <a:ext cx="995781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Küçük testler smoke test niteliğindedir. Orta ölçekte extracted yaklaşımın avantajı kaybolmuştur. Solr metadata-only latency tarafında tüm ölçekte düşük değerler üretmiştir.</a:t>
            </a:r>
            <a:endParaRPr lang="en-US" sz="12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Büyük Final Test Bulguları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adet yaklaşık 2 MB XML dokümanı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51206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536192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RAW_XML + METADATA_ONLY avgMs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78408" y="19476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Elasticsearch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606040" y="1984248"/>
            <a:ext cx="2537882" cy="1371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0952" y="193852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12.66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78408" y="241858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Solr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2606040" y="2455164"/>
            <a:ext cx="224520" cy="137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240944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1.12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51206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536192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EXTRACTED_DOCUMENT + METADATA_ONLY avgMs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10528" y="19476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Elasticsearch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8138160" y="1984248"/>
            <a:ext cx="259021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63072" y="193852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27.83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10528" y="241858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Solr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8138160" y="2455164"/>
            <a:ext cx="111687" cy="137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63072" y="240944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1.20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914400" y="3703320"/>
            <a:ext cx="2011680" cy="338328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Test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2926080" y="3703320"/>
            <a:ext cx="2194560" cy="338328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Engine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120640" y="3703320"/>
            <a:ext cx="1280160" cy="338328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Avg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400800" y="3703320"/>
            <a:ext cx="1280160" cy="338328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P50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7680960" y="3703320"/>
            <a:ext cx="1280160" cy="338328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P95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8961120" y="3703320"/>
            <a:ext cx="1005840" cy="338328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Error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914400" y="4041648"/>
            <a:ext cx="201168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RAW_XML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2926080" y="4041648"/>
            <a:ext cx="219456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Elasticsearch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5120640" y="4041648"/>
            <a:ext cx="128016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12.66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400800" y="4041648"/>
            <a:ext cx="128016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11.70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7680960" y="4041648"/>
            <a:ext cx="128016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19.92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8961120" y="4041648"/>
            <a:ext cx="100584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0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914400" y="4379976"/>
            <a:ext cx="201168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RAW_XML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2926080" y="4379976"/>
            <a:ext cx="219456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Solr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5120640" y="4379976"/>
            <a:ext cx="128016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1.12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6400800" y="4379976"/>
            <a:ext cx="128016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1.04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7680960" y="4379976"/>
            <a:ext cx="128016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1.79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8961120" y="4379976"/>
            <a:ext cx="100584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0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914400" y="4718304"/>
            <a:ext cx="201168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EXTRACTED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2926080" y="4718304"/>
            <a:ext cx="219456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Elasticsearch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5120640" y="4718304"/>
            <a:ext cx="128016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27.83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6400800" y="4718304"/>
            <a:ext cx="128016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20.59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7680960" y="4718304"/>
            <a:ext cx="128016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49.77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8961120" y="4718304"/>
            <a:ext cx="100584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0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914400" y="5056632"/>
            <a:ext cx="201168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EXTRACTED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2926080" y="5056632"/>
            <a:ext cx="219456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Solr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5120640" y="5056632"/>
            <a:ext cx="128016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1.20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6400800" y="5056632"/>
            <a:ext cx="128016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0.98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7680960" y="5056632"/>
            <a:ext cx="128016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2.11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8961120" y="5056632"/>
            <a:ext cx="100584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0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914400" y="5742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bulgu: Solr metadata-only aramada açık biçimde düşük latency üretirken, Elasticsearch kararlı baseline olarak çalışmıştır.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RAW_XML vs EXTRACTED_DOCUMENT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edilmiş veri neden otomatik avantaj sağlamadı?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14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179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Beklenen avantaj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" y="1874520"/>
            <a:ext cx="30998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 parse edilirse arama daha anlamlı alanlara taşınır: workflowName, screenTitles, actionTexts, searchText.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5179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Gerçekleşen durum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1874520"/>
            <a:ext cx="30998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Mevcut query setinde terimler birçok dokümanda ve birçok alanda tekrarlandı. Arama uzayı yeterince daralmadı.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137160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5179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 maliyet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48472" y="1874520"/>
            <a:ext cx="30998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Multi-field query, field boost ve skor birleştirme maliyeti oluşturdu. Elasticsearch tarafında extracted belirgin yavaşladı.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3291840"/>
            <a:ext cx="49377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4198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Elasticsearch avgMs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703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Büyük test: RAW vs Extracted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1115568" y="41696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4206240"/>
            <a:ext cx="977518" cy="20116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178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12.66 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" y="47091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4745736"/>
            <a:ext cx="214884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47183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27.83 ms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55080" y="3291840"/>
            <a:ext cx="49377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4198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Solr avgMs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3703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Büyük test: RAW vs Extracted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556248" y="41696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46720" y="4206240"/>
            <a:ext cx="2005584" cy="20116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0" y="4178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1.12 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56248" y="47091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46720" y="4745736"/>
            <a:ext cx="214884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24160" y="47183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1.20 ms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Metadata-only vs Full XML Response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hızlı olsa bile büyük payload latency’yi baskılar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15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50749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536192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Elasticsearch avgMs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24128" y="19476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Metadata-only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651760" y="1984248"/>
            <a:ext cx="405171" cy="1371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0952" y="193852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12.66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024128" y="24505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XML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2651760" y="2487168"/>
            <a:ext cx="2434864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244144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76.08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50749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536192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Solr avgMs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10528" y="19476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Metadata-only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8138160" y="1984248"/>
            <a:ext cx="35844" cy="137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17352" y="193852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1.12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10528" y="24505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XML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8138160" y="2487168"/>
            <a:ext cx="2122505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17352" y="244144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66.32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143000" y="3886200"/>
            <a:ext cx="21031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C2626"/>
                </a:solidFill>
              </a:rPr>
              <a:t>~10 MB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1143000" y="43434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Full response payload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234440" y="4690872"/>
            <a:ext cx="192024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886200"/>
            <a:ext cx="1920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7706"/>
                </a:solidFill>
              </a:rPr>
              <a:t>~6.0×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3703320" y="43434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ES latency artışı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3794760" y="4690872"/>
            <a:ext cx="173736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886200"/>
            <a:ext cx="1920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7706"/>
                </a:solidFill>
              </a:rPr>
              <a:t>~59×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6126480" y="43434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Solr latency artışı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217920" y="4690872"/>
            <a:ext cx="173736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58200" y="3840480"/>
            <a:ext cx="2834640" cy="1143000"/>
          </a:xfrm>
          <a:prstGeom prst="roundRect">
            <a:avLst>
              <a:gd name="adj" fmla="val 5600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22792" y="39867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Mimari öneri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622792" y="4343400"/>
            <a:ext cx="250545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sonucu metadata-only olmalı. Büyük XML içeriği, kullanıcı sonuç seçtikten sonra ayrı detail endpoint üzerinden alınmalı.</a:t>
            </a:r>
            <a:endParaRPr lang="en-US" sz="11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Teknik Değerlendirme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Sonuçlar neden bu yönde oluştu?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16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4721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Solr neden hızlı görünüyor?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1828800"/>
            <a:ext cx="309981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Schema-first field yapısı, sade metadata-only response ve RAW_XML’de tek text field üzerinden arama bu PoC senaryosunda çok düşük latency üretti.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4721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Elasticsearch neden baseline?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1828800"/>
            <a:ext cx="309981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Mevcut sisteme en yakın teknoloji. Büyük testlerde Solr kadar hızlı değil, ancak hatasız ve kararlı bir referans davranışı sundu.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4721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OpenSearch neden finalde yok?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2752" y="1828800"/>
            <a:ext cx="309981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Küçük/orta testlerde çalıştı. Büyük XML yükünde lokal Docker bellek baskısı ve kararsızlık şüphesi nedeniyle final büyük benchmark ES + Solr izolasyonuyla alındı.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2011680" y="4160520"/>
            <a:ext cx="8138160" cy="1005840"/>
          </a:xfrm>
          <a:prstGeom prst="roundRect">
            <a:avLst>
              <a:gd name="adj" fmla="val 6364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4306824"/>
            <a:ext cx="7808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Kritik çıkarım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176272" y="4663440"/>
            <a:ext cx="7808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çalışma “production kararı” değil; lokal, single-node ve sentetik veriyle teknik yön gösterici PoC benchmarktır.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Sonuç ve Önerilen Mimari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teknik karar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17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1353312"/>
            <a:ext cx="5212080" cy="4297680"/>
          </a:xfrm>
          <a:prstGeom prst="roundRect">
            <a:avLst>
              <a:gd name="adj" fmla="val 1489"/>
            </a:avLst>
          </a:prstGeom>
          <a:solidFill>
            <a:srgbClr val="F8FAFC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81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Sonuçlar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457200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Solr metadata-only RAW_XML aramada en düşük latency değerlerini üretti.</a:t>
            </a:r>
            <a:endParaRPr lang="en-US" sz="1400" dirty="0"/>
          </a:p>
          <a:p>
            <a:r>
              <a:rPr lang="en-US" sz="14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Elasticsearch kararlı baseline olarak çalıştı.</a:t>
            </a:r>
            <a:endParaRPr lang="en-US" sz="1400" dirty="0"/>
          </a:p>
          <a:p>
            <a:r>
              <a:rPr lang="en-US" sz="14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EXTRACTED_DOCUMENT mevcut haliyle performans avantajı sağlamadı.</a:t>
            </a:r>
            <a:endParaRPr lang="en-US" sz="1400" dirty="0"/>
          </a:p>
          <a:p>
            <a:r>
              <a:rPr lang="en-US" sz="14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FULL_XML_RESPONSE latency’yi ciddi artırdı.</a:t>
            </a:r>
            <a:endParaRPr lang="en-US" sz="1400" dirty="0"/>
          </a:p>
          <a:p>
            <a:r>
              <a:rPr lang="en-US" sz="1400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OpenSearch küçük/orta testlerde değerlendirildi; final büyük testten çıkarıldı.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37960" y="1965960"/>
            <a:ext cx="1600200" cy="749808"/>
          </a:xfrm>
          <a:prstGeom prst="roundRect">
            <a:avLst>
              <a:gd name="adj" fmla="val 8537"/>
            </a:avLst>
          </a:prstGeom>
          <a:solidFill>
            <a:srgbClr val="F8FB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057400"/>
            <a:ext cx="145389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API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metadata-only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732520" y="1965960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F8FB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5672" y="2057400"/>
            <a:ext cx="12710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seçimi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10561320" y="1965960"/>
            <a:ext cx="1005840" cy="749808"/>
          </a:xfrm>
          <a:prstGeom prst="roundRect">
            <a:avLst>
              <a:gd name="adj" fmla="val 8537"/>
            </a:avLst>
          </a:prstGeom>
          <a:solidFill>
            <a:srgbClr val="F8FB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34472" y="2057400"/>
            <a:ext cx="8595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API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XML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8138160" y="2340864"/>
            <a:ext cx="566928" cy="0"/>
          </a:xfrm>
          <a:prstGeom prst="line">
            <a:avLst/>
          </a:prstGeom>
          <a:noFill/>
          <a:ln w="1651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149840" y="2340864"/>
            <a:ext cx="393192" cy="0"/>
          </a:xfrm>
          <a:prstGeom prst="line">
            <a:avLst/>
          </a:prstGeom>
          <a:noFill/>
          <a:ln w="1651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46520" y="352044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8FBFF"/>
          </a:solidFill>
          <a:ln w="10160">
            <a:solidFill>
              <a:srgbClr val="D6E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3666744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Önerilen yaklaşım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11112" y="4023360"/>
            <a:ext cx="47914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Arama endpointi küçük metadata döndürmeli. Büyük XML içeriği yalnızca seçilen workflow için ayrı endpoint ile alınmalı. Solr güçlü bir alternatif olarak daha production-like ortamda tekrar test edilmeli.</a:t>
            </a:r>
            <a:endParaRPr lang="en-US" sz="12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547104"/>
            <a:ext cx="11064240" cy="9144"/>
          </a:xfrm>
          <a:prstGeom prst="rect">
            <a:avLst/>
          </a:prstGeom>
          <a:solidFill>
            <a:srgbClr val="D6E2F0"/>
          </a:solidFill>
          <a:ln w="6350">
            <a:solidFill>
              <a:srgbClr val="D6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918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2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Sınırlılıklar ve Sonraki Adımlar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raporda açıkça belirtilmesi gereken noktalar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66019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XML Workflow Search Benchmark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65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18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166360" cy="1508760"/>
          </a:xfrm>
          <a:prstGeom prst="roundRect">
            <a:avLst>
              <a:gd name="adj" fmla="val 4242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47218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Sınırlılıklar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1828800"/>
            <a:ext cx="483717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Lokal single-node Docker ortamı; sentetik veri; sınırlı query seti; tekrar eden query cache etkisi; production cluster ve gerçek trafik kapsam dışı.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309360" y="1325880"/>
            <a:ext cx="5166360" cy="1508760"/>
          </a:xfrm>
          <a:prstGeom prst="roundRect">
            <a:avLst>
              <a:gd name="adj" fmla="val 4242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47218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Sonraki adımlar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1828800"/>
            <a:ext cx="483717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 query logları, sistematik relevance metriği, bulk indexing optimizasyonu, production-like cluster testi, OpenSearch için izole kaynaklarla tekrar ölçüm.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1097280" cy="338328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Öncelik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011680" y="3703320"/>
            <a:ext cx="3840480" cy="338328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Aksiyon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852160" y="3703320"/>
            <a:ext cx="5303520" cy="338328"/>
          </a:xfrm>
          <a:prstGeom prst="rect">
            <a:avLst/>
          </a:prstGeom>
          <a:solidFill>
            <a:srgbClr val="0D2A44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Amaç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914400" y="4041648"/>
            <a:ext cx="109728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1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011680" y="4041648"/>
            <a:ext cx="384048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Gerçek query seti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852160" y="4041648"/>
            <a:ext cx="530352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Production davranışına yaklaşmak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14400" y="4379976"/>
            <a:ext cx="109728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2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011680" y="4379976"/>
            <a:ext cx="384048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Relevance metriği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5852160" y="4379976"/>
            <a:ext cx="530352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Sadece latency değil kalite ölçmek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14400" y="4718304"/>
            <a:ext cx="109728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3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2011680" y="4718304"/>
            <a:ext cx="384048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Production-like cluster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5852160" y="4718304"/>
            <a:ext cx="5303520" cy="338328"/>
          </a:xfrm>
          <a:prstGeom prst="rect">
            <a:avLst/>
          </a:prstGeom>
          <a:solidFill>
            <a:srgbClr val="F8FAFC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Resource isolation ve dağıtık davranış görmek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914400" y="5056632"/>
            <a:ext cx="109728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4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011680" y="5056632"/>
            <a:ext cx="384048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Metadata/detail mimarisi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852160" y="5056632"/>
            <a:ext cx="530352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6E2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2243A"/>
                </a:solidFill>
              </a:rPr>
              <a:t>Full XML payload maliyetini sistem tasarımında ayırmak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914400" y="57790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Kapanış: Bu PoC, search engine seçimi için nihai karar değil; ölçülebilir, tekrar edilebilir ve genişletilebilir bir benchmark altyapısıdır.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Argela Staj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Workflow Search Benchmark - Teknik Sunum</dc:title>
  <dc:subject>XML Workflow Search Benchmark</dc:subject>
  <dc:creator>OpenAI</dc:creator>
  <cp:lastModifiedBy>OpenAI</cp:lastModifiedBy>
  <cp:revision>1</cp:revision>
  <dcterms:created xsi:type="dcterms:W3CDTF">2026-06-10T14:36:32Z</dcterms:created>
  <dcterms:modified xsi:type="dcterms:W3CDTF">2026-06-10T14:36:32Z</dcterms:modified>
</cp:coreProperties>
</file>